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/Relationships>
</file>

<file path=ppt/slideLayouts/_rels/slideLayout1.xml.rels><?xml version="1.0" encoding="UTF-8" standalone="yes"?><Relationships xmlns="http://schemas.openxmlformats.org/package/2006/relationships"/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/>
</file>

<file path=ppt/slides/_rels/slide2.xml.rels><?xml version="1.0" encoding="UTF-8" standalone="yes"?><Relationships xmlns="http://schemas.openxmlformats.org/package/2006/relationships"/>
</file>

<file path=ppt/slides/_rels/slide3.xml.rels><?xml version="1.0" encoding="UTF-8" standalone="yes"?><Relationships xmlns="http://schemas.openxmlformats.org/package/2006/relationships"/>
</file>

<file path=ppt/slides/_rels/slide4.xml.rels><?xml version="1.0" encoding="UTF-8" standalone="yes"?><Relationships xmlns="http://schemas.openxmlformats.org/package/2006/relationships"/>
</file>

<file path=ppt/slides/_rels/slide5.xml.rels><?xml version="1.0" encoding="UTF-8" standalone="yes"?><Relationships xmlns="http://schemas.openxmlformats.org/package/2006/relationships"/>
</file>

<file path=ppt/slides/_rels/slide6.xml.rels><?xml version="1.0" encoding="UTF-8" standalone="yes"?><Relationships xmlns="http://schemas.openxmlformats.org/package/2006/relationships"/>
</file>

<file path=ppt/slides/_rels/slide7.xml.rels><?xml version="1.0" encoding="UTF-8" standalone="yes"?><Relationships xmlns="http://schemas.openxmlformats.org/package/2006/relationships"/>
</file>

<file path=ppt/slides/_rels/slide8.xml.rels><?xml version="1.0" encoding="UTF-8" standalone="yes"?><Relationships xmlns="http://schemas.openxmlformats.org/package/2006/relationships"/>
</file>

<file path=ppt/slides/_rels/slide9.xml.rels><?xml version="1.0" encoding="UTF-8" standalone="yes"?><Relationships xmlns="http://schemas.openxmlformats.org/package/2006/relationships"/>
</file>

<file path=ppt/slides/_rels/slide10.xml.rels><?xml version="1.0" encoding="UTF-8" standalone="yes"?><Relationships xmlns="http://schemas.openxmlformats.org/package/2006/relationships"/>
</file>

<file path=ppt/slides/_rels/slide11.xml.rels><?xml version="1.0" encoding="UTF-8" standalone="yes"?><Relationships xmlns="http://schemas.openxmlformats.org/package/2006/relationships"/>
</file>

<file path=ppt/slides/_rels/slide12.xml.rels><?xml version="1.0" encoding="UTF-8" standalone="yes"?><Relationships xmlns="http://schemas.openxmlformats.org/package/2006/relationships"/>
</file>

<file path=ppt/slides/_rels/slide13.xml.rels><?xml version="1.0" encoding="UTF-8" standalone="yes"?><Relationships xmlns="http://schemas.openxmlformats.org/package/2006/relationships"/>
</file>

<file path=ppt/slides/_rels/slide14.xml.rels><?xml version="1.0" encoding="UTF-8" standalone="yes"?><Relationships xmlns="http://schemas.openxmlformats.org/package/2006/relationships"/>
</file>

<file path=ppt/slides/_rels/slide15.xml.rels><?xml version="1.0" encoding="UTF-8" standalone="yes"?><Relationships xmlns="http://schemas.openxmlformats.org/package/2006/relationships"/>
</file>

<file path=ppt/slides/_rels/slide16.xml.rels><?xml version="1.0" encoding="UTF-8" standalone="yes"?><Relationships xmlns="http://schemas.openxmlformats.org/package/2006/relationships"/>
</file>

<file path=ppt/slides/_rels/slide17.xml.rels><?xml version="1.0" encoding="UTF-8" standalone="yes"?><Relationships xmlns="http://schemas.openxmlformats.org/package/2006/relationships"/>
</file>

<file path=ppt/slides/_rels/slide18.xml.rels><?xml version="1.0" encoding="UTF-8" standalone="yes"?><Relationships xmlns="http://schemas.openxmlformats.org/package/2006/relationships"/>
</file>

<file path=ppt/slides/_rels/slide19.xml.rels><?xml version="1.0" encoding="UTF-8" standalone="yes"?><Relationships xmlns="http://schemas.openxmlformats.org/package/2006/relationships"/>
</file>

<file path=ppt/slides/_rels/slide20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94360" y="685800"/>
            <a:ext cx="10607040" cy="91440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txBody>
          <a:bodyPr wrap="square" lIns="91440" tIns="45720" rIns="91440" bIns="45720"/>
          <a:lstStyle/>
          <a:p>
            <a:r>
              <a:rPr lang="en-US" sz="3300" dirty="0">
                <a:solidFill>
                  <a:srgbClr val="0F172A"/>
                </a:solidFill>
              </a:rPr>
              <a:t>AI-Driven Interview Simulation &amp; Recruitment System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777240" y="1554480"/>
            <a:ext cx="10149840" cy="59436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txBody>
          <a:bodyPr wrap="square" lIns="91440" tIns="45720" rIns="91440" bIns="45720"/>
          <a:lstStyle/>
          <a:p>
            <a:r>
              <a:rPr lang="en-US" sz="1800" dirty="0">
                <a:solidFill>
                  <a:srgbClr val="475569"/>
                </a:solidFill>
              </a:rPr>
              <a:t>A modern platform for interviews, coding practice, peer collaboration, coaching, and recruitment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777240" y="2606040"/>
            <a:ext cx="5120640" cy="1965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txBody>
          <a:bodyPr wrap="square" lIns="91440" tIns="45720" rIns="91440" bIns="45720"/>
          <a:lstStyle/>
          <a:p>
            <a:pPr marL="285750" indent="-171450">
              <a:buChar char="•"/>
              <a:defRPr sz="1600"/>
            </a:pPr>
            <a:r>
              <a:rPr lang="en-US" sz="1600" dirty="0">
                <a:solidFill>
                  <a:srgbClr val="0F172A"/>
                </a:solidFill>
              </a:rPr>
              <a:t>Real-time AI interview practice</a:t>
            </a:r>
          </a:p>
          <a:p>
            <a:pPr marL="285750" indent="-171450">
              <a:buChar char="•"/>
              <a:defRPr sz="1600"/>
            </a:pPr>
            <a:r>
              <a:rPr lang="en-US" sz="1600" dirty="0">
                <a:solidFill>
                  <a:srgbClr val="0F172A"/>
                </a:solidFill>
              </a:rPr>
              <a:t>Coding, peer, and recruiter workflows</a:t>
            </a:r>
          </a:p>
          <a:p>
            <a:pPr marL="285750" indent="-171450">
              <a:buChar char="•"/>
              <a:defRPr sz="1600"/>
            </a:pPr>
            <a:r>
              <a:rPr lang="en-US" sz="1600" dirty="0">
                <a:solidFill>
                  <a:srgbClr val="0F172A"/>
                </a:solidFill>
              </a:rPr>
              <a:t>Voice, face, and session analytics</a:t>
            </a:r>
          </a:p>
          <a:p>
            <a:pPr marL="285750" indent="-171450">
              <a:buChar char="•"/>
              <a:defRPr sz="1600"/>
            </a:pPr>
            <a:r>
              <a:rPr lang="en-US" sz="1600" dirty="0">
                <a:solidFill>
                  <a:srgbClr val="0F172A"/>
                </a:solidFill>
              </a:rPr>
              <a:t>Roadmaps, reports, and coaching support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6446520" y="2606040"/>
            <a:ext cx="4663440" cy="19659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91440" tIns="45720" rIns="91440" bIns="45720"/>
          <a:lstStyle/>
          <a:p>
            <a:r>
              <a:rPr lang="en-US" sz="1600" dirty="0">
                <a:solidFill>
                  <a:srgbClr val="1D4ED8"/>
                </a:solidFill>
              </a:rPr>
              <a:t>React | Vite | Tailwind</a:t>
            </a:r>
          </a:p>
          <a:p>
            <a:r>
              <a:rPr lang="en-US" sz="1600" dirty="0">
                <a:solidFill>
                  <a:srgbClr val="1D4ED8"/>
                </a:solidFill>
              </a:rPr>
              <a:t>Node.js | Express</a:t>
            </a:r>
          </a:p>
          <a:p>
            <a:r>
              <a:rPr lang="en-US" sz="1600" dirty="0">
                <a:solidFill>
                  <a:srgbClr val="1D4ED8"/>
                </a:solidFill>
              </a:rPr>
              <a:t>MongoDB | Mongoose</a:t>
            </a:r>
          </a:p>
          <a:p>
            <a:r>
              <a:rPr lang="en-US" sz="1600" dirty="0">
                <a:solidFill>
                  <a:srgbClr val="1D4ED8"/>
                </a:solidFill>
              </a:rPr>
              <a:t>Gemini | Socket.IO | WebRTC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20040" y="164592"/>
            <a:ext cx="11292840" cy="50292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txBody>
          <a:bodyPr wrap="square" lIns="91440" tIns="45720" rIns="91440" bIns="45720"/>
          <a:lstStyle/>
          <a:p>
            <a:r>
              <a:rPr lang="en-US" sz="2600" dirty="0">
                <a:solidFill>
                  <a:srgbClr val="0F172A"/>
                </a:solidFill>
              </a:rPr>
              <a:t>Agenda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85800" y="960120"/>
            <a:ext cx="10835640" cy="489204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txBody>
          <a:bodyPr wrap="square" lIns="91440" tIns="45720" rIns="91440" bIns="45720"/>
          <a:lstStyle/>
          <a:p>
            <a:pPr marL="285750" indent="-171450">
              <a:buChar char="•"/>
              <a:defRPr sz="1250"/>
            </a:pPr>
            <a:r>
              <a:rPr lang="en-US" sz="1250" dirty="0">
                <a:solidFill>
                  <a:srgbClr val="0F172A"/>
                </a:solidFill>
              </a:rPr>
              <a:t>Abstract</a:t>
            </a:r>
          </a:p>
          <a:p>
            <a:pPr marL="285750" indent="-171450">
              <a:buChar char="•"/>
              <a:defRPr sz="1250"/>
            </a:pPr>
            <a:r>
              <a:rPr lang="en-US" sz="1250" dirty="0">
                <a:solidFill>
                  <a:srgbClr val="0F172A"/>
                </a:solidFill>
              </a:rPr>
              <a:t>Problem Statement</a:t>
            </a:r>
          </a:p>
          <a:p>
            <a:pPr marL="285750" indent="-171450">
              <a:buChar char="•"/>
              <a:defRPr sz="1250"/>
            </a:pPr>
            <a:r>
              <a:rPr lang="en-US" sz="1250" dirty="0">
                <a:solidFill>
                  <a:srgbClr val="0F172A"/>
                </a:solidFill>
              </a:rPr>
              <a:t>Difference Between Traditional and Modern Approach</a:t>
            </a:r>
          </a:p>
          <a:p>
            <a:pPr marL="285750" indent="-171450">
              <a:buChar char="•"/>
              <a:defRPr sz="1250"/>
            </a:pPr>
            <a:r>
              <a:rPr lang="en-US" sz="1250" dirty="0">
                <a:solidFill>
                  <a:srgbClr val="0F172A"/>
                </a:solidFill>
              </a:rPr>
              <a:t>Proposed Solution</a:t>
            </a:r>
          </a:p>
          <a:p>
            <a:pPr marL="285750" indent="-171450">
              <a:buChar char="•"/>
              <a:defRPr sz="1250"/>
            </a:pPr>
            <a:r>
              <a:rPr lang="en-US" sz="1250" dirty="0">
                <a:solidFill>
                  <a:srgbClr val="0F172A"/>
                </a:solidFill>
              </a:rPr>
              <a:t>System Overview</a:t>
            </a:r>
          </a:p>
          <a:p>
            <a:pPr marL="285750" indent="-171450">
              <a:buChar char="•"/>
              <a:defRPr sz="1250"/>
            </a:pPr>
            <a:r>
              <a:rPr lang="en-US" sz="1250" dirty="0">
                <a:solidFill>
                  <a:srgbClr val="0F172A"/>
                </a:solidFill>
              </a:rPr>
              <a:t>Architecture Diagram</a:t>
            </a:r>
          </a:p>
          <a:p>
            <a:pPr marL="285750" indent="-171450">
              <a:buChar char="•"/>
              <a:defRPr sz="1250"/>
            </a:pPr>
            <a:r>
              <a:rPr lang="en-US" sz="1250" dirty="0">
                <a:solidFill>
                  <a:srgbClr val="0F172A"/>
                </a:solidFill>
              </a:rPr>
              <a:t>Technology Stack</a:t>
            </a:r>
          </a:p>
          <a:p>
            <a:pPr marL="285750" indent="-171450">
              <a:buChar char="•"/>
              <a:defRPr sz="1250"/>
            </a:pPr>
            <a:r>
              <a:rPr lang="en-US" sz="1250" dirty="0">
                <a:solidFill>
                  <a:srgbClr val="0F172A"/>
                </a:solidFill>
              </a:rPr>
              <a:t>Core Modules and AI Flow</a:t>
            </a:r>
          </a:p>
          <a:p>
            <a:pPr marL="285750" indent="-171450">
              <a:buChar char="•"/>
              <a:defRPr sz="1250"/>
            </a:pPr>
            <a:r>
              <a:rPr lang="en-US" sz="1250" dirty="0">
                <a:solidFill>
                  <a:srgbClr val="0F172A"/>
                </a:solidFill>
              </a:rPr>
              <a:t>Agents Used</a:t>
            </a:r>
          </a:p>
          <a:p>
            <a:pPr marL="285750" indent="-171450">
              <a:buChar char="•"/>
              <a:defRPr sz="1250"/>
            </a:pPr>
            <a:r>
              <a:rPr lang="en-US" sz="1250" dirty="0">
                <a:solidFill>
                  <a:srgbClr val="0F172A"/>
                </a:solidFill>
              </a:rPr>
              <a:t>Algorithms Used</a:t>
            </a:r>
          </a:p>
          <a:p>
            <a:pPr marL="285750" indent="-171450">
              <a:buChar char="•"/>
              <a:defRPr sz="1250"/>
            </a:pPr>
            <a:r>
              <a:rPr lang="en-US" sz="1250" dirty="0">
                <a:solidFill>
                  <a:srgbClr val="0F172A"/>
                </a:solidFill>
              </a:rPr>
              <a:t>Database Design and API Summary</a:t>
            </a:r>
          </a:p>
          <a:p>
            <a:pPr marL="285750" indent="-171450">
              <a:buChar char="•"/>
              <a:defRPr sz="1250"/>
            </a:pPr>
            <a:r>
              <a:rPr lang="en-US" sz="1250" dirty="0">
                <a:solidFill>
                  <a:srgbClr val="0F172A"/>
                </a:solidFill>
              </a:rPr>
              <a:t>Security and Data Handling</a:t>
            </a:r>
          </a:p>
          <a:p>
            <a:pPr marL="285750" indent="-171450">
              <a:buChar char="•"/>
              <a:defRPr sz="1250"/>
            </a:pPr>
            <a:r>
              <a:rPr lang="en-US" sz="1250" dirty="0">
                <a:solidFill>
                  <a:srgbClr val="0F172A"/>
                </a:solidFill>
              </a:rPr>
              <a:t>Implementation Phases</a:t>
            </a:r>
          </a:p>
          <a:p>
            <a:pPr marL="285750" indent="-171450">
              <a:buChar char="•"/>
              <a:defRPr sz="1250"/>
            </a:pPr>
            <a:r>
              <a:rPr lang="en-US" sz="1250" dirty="0">
                <a:solidFill>
                  <a:srgbClr val="0F172A"/>
                </a:solidFill>
              </a:rPr>
              <a:t>Applications and Future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20040" y="164592"/>
            <a:ext cx="11292840" cy="50292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txBody>
          <a:bodyPr wrap="square" lIns="91440" tIns="45720" rIns="91440" bIns="45720"/>
          <a:lstStyle/>
          <a:p>
            <a:r>
              <a:rPr lang="en-US" sz="2600" dirty="0">
                <a:solidFill>
                  <a:srgbClr val="0F172A"/>
                </a:solidFill>
              </a:rPr>
              <a:t>Abstract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85800" y="960120"/>
            <a:ext cx="10835640" cy="489204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txBody>
          <a:bodyPr wrap="square" lIns="91440" tIns="45720" rIns="91440" bIns="45720"/>
          <a:lstStyle/>
          <a:p>
            <a:pPr marL="285750" indent="-171450">
              <a:buChar char="•"/>
              <a:defRPr sz="1750"/>
            </a:pPr>
            <a:r>
              <a:rPr lang="en-US" sz="1750" dirty="0">
                <a:solidFill>
                  <a:srgbClr val="0F172A"/>
                </a:solidFill>
              </a:rPr>
              <a:t>The project is a full-stack AI-driven interview simulation and recruitment platform.</a:t>
            </a:r>
          </a:p>
          <a:p>
            <a:pPr marL="285750" indent="-171450">
              <a:buChar char="•"/>
              <a:defRPr sz="1750"/>
            </a:pPr>
            <a:r>
              <a:rPr lang="en-US" sz="1750" dirty="0">
                <a:solidFill>
                  <a:srgbClr val="0F172A"/>
                </a:solidFill>
              </a:rPr>
              <a:t>It combines interview practice, coding assessment, peer collaboration, recruiter evaluation, and career guidance in one application.</a:t>
            </a:r>
          </a:p>
          <a:p>
            <a:pPr marL="285750" indent="-171450">
              <a:buChar char="•"/>
              <a:defRPr sz="1750"/>
            </a:pPr>
            <a:r>
              <a:rPr lang="en-US" sz="1750" dirty="0">
                <a:solidFill>
                  <a:srgbClr val="0F172A"/>
                </a:solidFill>
              </a:rPr>
              <a:t>The system captures both technical and communication signals during live interaction.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20040" y="164592"/>
            <a:ext cx="11292840" cy="50292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txBody>
          <a:bodyPr wrap="square" lIns="91440" tIns="45720" rIns="91440" bIns="45720"/>
          <a:lstStyle/>
          <a:p>
            <a:r>
              <a:rPr lang="en-US" sz="2600" dirty="0">
                <a:solidFill>
                  <a:srgbClr val="0F172A"/>
                </a:solidFill>
              </a:rPr>
              <a:t>Difference Between Traditional and Modern Approach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85800" y="960120"/>
            <a:ext cx="10835640" cy="489204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txBody>
          <a:bodyPr wrap="square" lIns="91440" tIns="45720" rIns="91440" bIns="45720"/>
          <a:lstStyle/>
          <a:p>
            <a:r>
              <a:rPr lang="en-US" sz="1750" dirty="0">
                <a:solidFill>
                  <a:srgbClr val="0F172A"/>
                </a:solidFill>
              </a:rPr>
              <a:t>Interview practice | Separate coding sites, separate mock interview tools, and manual note-taking | One unified browser platform for AI, coding, peer, recruiter, and coach flows |</a:t>
            </a:r>
          </a:p>
          <a:p>
            <a:r>
              <a:rPr lang="en-US" sz="1750" dirty="0">
                <a:solidFill>
                  <a:srgbClr val="0F172A"/>
                </a:solidFill>
              </a:rPr>
              <a:t>Feedback | Mostly manual and delayed | Immediate, AI-assisted, and structured feedback |</a:t>
            </a:r>
          </a:p>
          <a:p>
            <a:r>
              <a:rPr lang="en-US" sz="1750" dirty="0">
                <a:solidFill>
                  <a:srgbClr val="0F172A"/>
                </a:solidFill>
              </a:rPr>
              <a:t>Evaluation | Focused on answers only | Considers voice, pace, confidence, face cues, and correctness |</a:t>
            </a:r>
          </a:p>
          <a:p>
            <a:r>
              <a:rPr lang="en-US" sz="1750" dirty="0">
                <a:solidFill>
                  <a:srgbClr val="0F172A"/>
                </a:solidFill>
              </a:rPr>
              <a:t>Realtime work | Limited or missing | Socket.IO and WebRTC support live interaction |</a:t>
            </a:r>
          </a:p>
          <a:p>
            <a:r>
              <a:rPr lang="en-US" sz="1750" dirty="0">
                <a:solidFill>
                  <a:srgbClr val="0F172A"/>
                </a:solidFill>
              </a:rPr>
              <a:t>Data storage | Scattered or undocumented | Centralized MongoDB storage with reports and history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20040" y="164592"/>
            <a:ext cx="11292840" cy="50292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txBody>
          <a:bodyPr wrap="square" lIns="91440" tIns="45720" rIns="91440" bIns="45720"/>
          <a:lstStyle/>
          <a:p>
            <a:r>
              <a:rPr lang="en-US" sz="2600" dirty="0">
                <a:solidFill>
                  <a:srgbClr val="0F172A"/>
                </a:solidFill>
              </a:rPr>
              <a:t>Proposed Solution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85800" y="960120"/>
            <a:ext cx="10835640" cy="489204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txBody>
          <a:bodyPr wrap="square" lIns="91440" tIns="45720" rIns="91440" bIns="45720"/>
          <a:lstStyle/>
          <a:p>
            <a:pPr marL="285750" indent="-171450">
              <a:buChar char="•"/>
              <a:defRPr sz="1750"/>
            </a:pPr>
            <a:r>
              <a:rPr lang="en-US" sz="1750" dirty="0">
                <a:solidFill>
                  <a:srgbClr val="0F172A"/>
                </a:solidFill>
              </a:rPr>
              <a:t>One interface for AI interview, coding interview, peer mock interview, recruiter portal, coach, and roadmap.</a:t>
            </a:r>
          </a:p>
          <a:p>
            <a:pPr marL="285750" indent="-171450">
              <a:buChar char="•"/>
              <a:defRPr sz="1750"/>
            </a:pPr>
            <a:r>
              <a:rPr lang="en-US" sz="1750" dirty="0">
                <a:solidFill>
                  <a:srgbClr val="0F172A"/>
                </a:solidFill>
              </a:rPr>
              <a:t>Realtime voice and facial signal capture for richer evaluation.</a:t>
            </a:r>
          </a:p>
          <a:p>
            <a:pPr marL="285750" indent="-171450">
              <a:buChar char="•"/>
              <a:defRPr sz="1750"/>
            </a:pPr>
            <a:r>
              <a:rPr lang="en-US" sz="1750" dirty="0">
                <a:solidFill>
                  <a:srgbClr val="0F172A"/>
                </a:solidFill>
              </a:rPr>
              <a:t>Secure authentication and persistent session storage.</a:t>
            </a:r>
          </a:p>
          <a:p>
            <a:pPr marL="285750" indent="-171450">
              <a:buChar char="•"/>
              <a:defRPr sz="1750"/>
            </a:pPr>
            <a:r>
              <a:rPr lang="en-US" sz="1750" dirty="0">
                <a:solidFill>
                  <a:srgbClr val="0F172A"/>
                </a:solidFill>
              </a:rPr>
              <a:t>Scalable design so future modules can be added without changing the core flow.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20040" y="164592"/>
            <a:ext cx="11292840" cy="50292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txBody>
          <a:bodyPr wrap="square" lIns="91440" tIns="45720" rIns="91440" bIns="45720"/>
          <a:lstStyle/>
          <a:p>
            <a:r>
              <a:rPr lang="en-US" sz="2600" dirty="0">
                <a:solidFill>
                  <a:srgbClr val="0F172A"/>
                </a:solidFill>
              </a:rPr>
              <a:t>Problem Statement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85800" y="960120"/>
            <a:ext cx="10835640" cy="489204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txBody>
          <a:bodyPr wrap="square" lIns="91440" tIns="45720" rIns="91440" bIns="45720"/>
          <a:lstStyle/>
          <a:p>
            <a:pPr marL="285750" indent="-171450">
              <a:buChar char="•"/>
              <a:defRPr sz="1750"/>
            </a:pPr>
            <a:r>
              <a:rPr lang="en-US" sz="1750" dirty="0">
                <a:solidFill>
                  <a:srgbClr val="0F172A"/>
                </a:solidFill>
              </a:rPr>
              <a:t>Interview preparation is usually split across multiple tools, which makes learning fragmented.</a:t>
            </a:r>
          </a:p>
          <a:p>
            <a:pPr marL="285750" indent="-171450">
              <a:buChar char="•"/>
              <a:defRPr sz="1750"/>
            </a:pPr>
            <a:r>
              <a:rPr lang="en-US" sz="1750" dirty="0">
                <a:solidFill>
                  <a:srgbClr val="0F172A"/>
                </a:solidFill>
              </a:rPr>
              <a:t>Technical assessment, spoken answers, and behavioral feedback are often measured separately.</a:t>
            </a:r>
          </a:p>
          <a:p>
            <a:pPr marL="285750" indent="-171450">
              <a:buChar char="•"/>
              <a:defRPr sz="1750"/>
            </a:pPr>
            <a:r>
              <a:rPr lang="en-US" sz="1750" dirty="0">
                <a:solidFill>
                  <a:srgbClr val="0F172A"/>
                </a:solidFill>
              </a:rPr>
              <a:t>Recruiters and learners need a unified platform that can handle live interaction, scoring, and reporting.</a:t>
            </a:r>
          </a:p>
          <a:p>
            <a:pPr marL="285750" indent="-171450">
              <a:buChar char="•"/>
              <a:defRPr sz="1750"/>
            </a:pPr>
            <a:r>
              <a:rPr lang="en-US" sz="1750" dirty="0">
                <a:solidFill>
                  <a:srgbClr val="0F172A"/>
                </a:solidFill>
              </a:rPr>
              <a:t>Most existing tools do not combine coding, communication, face analysis, and coaching in one workflow.</a:t>
            </a:r>
          </a:p>
          <a:p>
            <a:pPr marL="285750" indent="-171450">
              <a:buChar char="•"/>
              <a:defRPr sz="1750"/>
            </a:pPr>
            <a:r>
              <a:rPr lang="en-US" sz="1750" dirty="0">
                <a:solidFill>
                  <a:srgbClr val="0F172A"/>
                </a:solidFill>
              </a:rPr>
              <a:t>This project addresses that gap with a browser-based AI interview environment.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20040" y="164592"/>
            <a:ext cx="11292840" cy="50292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txBody>
          <a:bodyPr wrap="square" lIns="91440" tIns="45720" rIns="91440" bIns="45720"/>
          <a:lstStyle/>
          <a:p>
            <a:r>
              <a:rPr lang="en-US" sz="2600" dirty="0">
                <a:solidFill>
                  <a:srgbClr val="0F172A"/>
                </a:solidFill>
              </a:rPr>
              <a:t>System Overview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85800" y="960120"/>
            <a:ext cx="10835640" cy="489204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txBody>
          <a:bodyPr wrap="square" lIns="91440" tIns="45720" rIns="91440" bIns="45720"/>
          <a:lstStyle/>
          <a:p>
            <a:pPr marL="285750" indent="-171450">
              <a:buChar char="•"/>
              <a:defRPr sz="1250"/>
            </a:pPr>
            <a:r>
              <a:rPr lang="en-US" sz="1250" dirty="0">
                <a:solidFill>
                  <a:srgbClr val="0F172A"/>
                </a:solidFill>
              </a:rPr>
              <a:t>User logs in and selects an interview journey.</a:t>
            </a:r>
          </a:p>
          <a:p>
            <a:pPr marL="285750" indent="-171450">
              <a:buChar char="•"/>
              <a:defRPr sz="1250"/>
            </a:pPr>
            <a:r>
              <a:rPr lang="en-US" sz="1250" dirty="0">
                <a:solidFill>
                  <a:srgbClr val="0F172A"/>
                </a:solidFill>
              </a:rPr>
              <a:t>Frontend opens the live workspace and captures browser signals.</a:t>
            </a:r>
          </a:p>
          <a:p>
            <a:pPr marL="285750" indent="-171450">
              <a:buChar char="•"/>
              <a:defRPr sz="1250"/>
            </a:pPr>
            <a:r>
              <a:rPr lang="en-US" sz="1250" dirty="0">
                <a:solidFill>
                  <a:srgbClr val="0F172A"/>
                </a:solidFill>
              </a:rPr>
              <a:t>Backend coordinates question generation and response handling.</a:t>
            </a:r>
          </a:p>
          <a:p>
            <a:pPr marL="285750" indent="-171450">
              <a:buChar char="•"/>
              <a:defRPr sz="1250"/>
            </a:pPr>
            <a:r>
              <a:rPr lang="en-US" sz="1250" dirty="0">
                <a:solidFill>
                  <a:srgbClr val="0F172A"/>
                </a:solidFill>
              </a:rPr>
              <a:t>AI services create interview prompts and feedback.</a:t>
            </a:r>
          </a:p>
          <a:p>
            <a:pPr marL="285750" indent="-171450">
              <a:buChar char="•"/>
              <a:defRPr sz="1250"/>
            </a:pPr>
            <a:r>
              <a:rPr lang="en-US" sz="1250" dirty="0">
                <a:solidFill>
                  <a:srgbClr val="0F172A"/>
                </a:solidFill>
              </a:rPr>
              <a:t>Results are stored for reports, analytics, and roadmaps.</a:t>
            </a:r>
          </a:p>
          <a:p>
            <a:pPr marL="285750" indent="-171450">
              <a:buChar char="•"/>
              <a:defRPr sz="1250"/>
            </a:pPr>
            <a:r>
              <a:rPr lang="en-US" sz="1250" dirty="0">
                <a:solidFill>
                  <a:srgbClr val="0F172A"/>
                </a:solidFill>
              </a:rPr>
              <a:t>AI Interview</a:t>
            </a:r>
          </a:p>
          <a:p>
            <a:pPr marL="285750" indent="-171450">
              <a:buChar char="•"/>
              <a:defRPr sz="1250"/>
            </a:pPr>
            <a:r>
              <a:rPr lang="en-US" sz="1250" dirty="0">
                <a:solidFill>
                  <a:srgbClr val="0F172A"/>
                </a:solidFill>
              </a:rPr>
              <a:t>Coding Interview</a:t>
            </a:r>
          </a:p>
          <a:p>
            <a:pPr marL="285750" indent="-171450">
              <a:buChar char="•"/>
              <a:defRPr sz="1250"/>
            </a:pPr>
            <a:r>
              <a:rPr lang="en-US" sz="1250" dirty="0">
                <a:solidFill>
                  <a:srgbClr val="0F172A"/>
                </a:solidFill>
              </a:rPr>
              <a:t>Coding Battle</a:t>
            </a:r>
          </a:p>
          <a:p>
            <a:pPr marL="285750" indent="-171450">
              <a:buChar char="•"/>
              <a:defRPr sz="1250"/>
            </a:pPr>
            <a:r>
              <a:rPr lang="en-US" sz="1250" dirty="0">
                <a:solidFill>
                  <a:srgbClr val="0F172A"/>
                </a:solidFill>
              </a:rPr>
              <a:t>Peer Mock Interview</a:t>
            </a:r>
          </a:p>
          <a:p>
            <a:pPr marL="285750" indent="-171450">
              <a:buChar char="•"/>
              <a:defRPr sz="1250"/>
            </a:pPr>
            <a:r>
              <a:rPr lang="en-US" sz="1250" dirty="0">
                <a:solidFill>
                  <a:srgbClr val="0F172A"/>
                </a:solidFill>
              </a:rPr>
              <a:t>AI Coach and Roadmap</a:t>
            </a:r>
          </a:p>
          <a:p>
            <a:pPr marL="285750" indent="-171450">
              <a:buChar char="•"/>
              <a:defRPr sz="1250"/>
            </a:pPr>
            <a:r>
              <a:rPr lang="en-US" sz="1250" dirty="0">
                <a:solidFill>
                  <a:srgbClr val="0F172A"/>
                </a:solidFill>
              </a:rPr>
              <a:t>Recruiter Portal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20040" y="164592"/>
            <a:ext cx="11338560" cy="50292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txBody>
          <a:bodyPr wrap="square" lIns="91440" tIns="45720" rIns="91440" bIns="45720"/>
          <a:lstStyle/>
          <a:p>
            <a:r>
              <a:rPr lang="en-US" sz="2600" dirty="0">
                <a:solidFill>
                  <a:srgbClr val="0F172A"/>
                </a:solidFill>
              </a:rPr>
              <a:t>Architecture Diagram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3886200" y="777240"/>
            <a:ext cx="4297680" cy="8229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txBody>
          <a:bodyPr wrap="square" lIns="91440" tIns="45720" rIns="91440" bIns="45720"/>
          <a:lstStyle/>
          <a:p>
            <a:r>
              <a:rPr lang="en-US" sz="1450" dirty="0">
                <a:solidFill>
                  <a:srgbClr val="2563EB"/>
                </a:solidFill>
              </a:rPr>
              <a:t>Frontend Web App</a:t>
            </a:r>
          </a:p>
          <a:p>
            <a:r>
              <a:rPr lang="en-US" sz="1450" dirty="0">
                <a:solidFill>
                  <a:srgbClr val="2563EB"/>
                </a:solidFill>
              </a:rPr>
              <a:t>React + Vite + Tailwind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3749039" y="1874519"/>
            <a:ext cx="4572000" cy="8229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6A34A"/>
            </a:solidFill>
          </a:ln>
        </p:spPr>
        <p:txBody>
          <a:bodyPr wrap="square" lIns="91440" tIns="45720" rIns="91440" bIns="45720"/>
          <a:lstStyle/>
          <a:p>
            <a:r>
              <a:rPr lang="en-US" sz="1450" dirty="0">
                <a:solidFill>
                  <a:srgbClr val="16A34A"/>
                </a:solidFill>
              </a:rPr>
              <a:t>Application Orchestrator</a:t>
            </a:r>
          </a:p>
          <a:p>
            <a:r>
              <a:rPr lang="en-US" sz="1450" dirty="0">
                <a:solidFill>
                  <a:srgbClr val="16A34A"/>
                </a:solidFill>
              </a:rPr>
              <a:t>Node.js + Express + JWT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685800" y="3017520"/>
            <a:ext cx="3566160" cy="82296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txBody>
          <a:bodyPr wrap="square" lIns="91440" tIns="45720" rIns="91440" bIns="45720"/>
          <a:lstStyle/>
          <a:p>
            <a:r>
              <a:rPr lang="en-US" sz="1450" dirty="0">
                <a:solidFill>
                  <a:srgbClr val="7C3AED"/>
                </a:solidFill>
              </a:rPr>
              <a:t>AI Services</a:t>
            </a:r>
          </a:p>
          <a:p>
            <a:r>
              <a:rPr lang="en-US" sz="1450" dirty="0">
                <a:solidFill>
                  <a:srgbClr val="7C3AED"/>
                </a:solidFill>
              </a:rPr>
              <a:t>Gemini + Prompt Engine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7909560" y="3017520"/>
            <a:ext cx="3840480" cy="82296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06B6D4"/>
            </a:solidFill>
          </a:ln>
        </p:spPr>
        <p:txBody>
          <a:bodyPr wrap="square" lIns="91440" tIns="45720" rIns="91440" bIns="45720"/>
          <a:lstStyle/>
          <a:p>
            <a:r>
              <a:rPr lang="en-US" sz="1450" dirty="0">
                <a:solidFill>
                  <a:srgbClr val="06B6D4"/>
                </a:solidFill>
              </a:rPr>
              <a:t>Browser Intelligence</a:t>
            </a:r>
          </a:p>
          <a:p>
            <a:r>
              <a:rPr lang="en-US" sz="1450" dirty="0">
                <a:solidFill>
                  <a:srgbClr val="06B6D4"/>
                </a:solidFill>
              </a:rPr>
              <a:t>Speech + Face + Voice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3977639" y="4069080"/>
            <a:ext cx="4114800" cy="8229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59E0B"/>
            </a:solidFill>
          </a:ln>
        </p:spPr>
        <p:txBody>
          <a:bodyPr wrap="square" lIns="91440" tIns="45720" rIns="91440" bIns="45720"/>
          <a:lstStyle/>
          <a:p>
            <a:r>
              <a:rPr lang="en-US" sz="1450" dirty="0">
                <a:solidFill>
                  <a:srgbClr val="F59E0B"/>
                </a:solidFill>
              </a:rPr>
              <a:t>Realtime Layer</a:t>
            </a:r>
          </a:p>
          <a:p>
            <a:r>
              <a:rPr lang="en-US" sz="1450" dirty="0">
                <a:solidFill>
                  <a:srgbClr val="F59E0B"/>
                </a:solidFill>
              </a:rPr>
              <a:t>Socket.IO + WebRTC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868680" y="4983480"/>
            <a:ext cx="3566160" cy="8229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txBody>
          <a:bodyPr wrap="square" lIns="91440" tIns="45720" rIns="91440" bIns="45720"/>
          <a:lstStyle/>
          <a:p>
            <a:r>
              <a:rPr lang="en-US" sz="1450" dirty="0">
                <a:solidFill>
                  <a:srgbClr val="2563EB"/>
                </a:solidFill>
              </a:rPr>
              <a:t>Data Layer</a:t>
            </a:r>
          </a:p>
          <a:p>
            <a:r>
              <a:rPr lang="en-US" sz="1450" dirty="0">
                <a:solidFill>
                  <a:srgbClr val="2563EB"/>
                </a:solidFill>
              </a:rPr>
              <a:t>MongoDB + Mongoose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7635240" y="4983480"/>
            <a:ext cx="4160520" cy="8229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6A34A"/>
            </a:solidFill>
          </a:ln>
        </p:spPr>
        <p:txBody>
          <a:bodyPr wrap="square" lIns="91440" tIns="45720" rIns="91440" bIns="45720"/>
          <a:lstStyle/>
          <a:p>
            <a:r>
              <a:rPr lang="en-US" sz="1450" dirty="0">
                <a:solidFill>
                  <a:srgbClr val="16A34A"/>
                </a:solidFill>
              </a:rPr>
              <a:t>Interview Modules</a:t>
            </a:r>
          </a:p>
          <a:p>
            <a:r>
              <a:rPr lang="en-US" sz="1450" dirty="0">
                <a:solidFill>
                  <a:srgbClr val="16A34A"/>
                </a:solidFill>
              </a:rPr>
              <a:t>AI, Coding, Peer, Recruiter, Coach</a:t>
            </a:r>
          </a:p>
        </p:txBody>
      </p:sp>
      <p:cxnSp>
        <p:nvCxnSpPr>
          <p:cNvPr id="10" name="Connector 10"/>
          <p:cNvCxnSpPr/>
          <p:nvPr/>
        </p:nvCxnSpPr>
        <p:spPr>
          <a:xfrm>
            <a:off x="6035040" y="1600200"/>
            <a:ext cx="9144" cy="274319"/>
          </a:xfrm>
          <a:prstGeom prst="line">
            <a:avLst/>
          </a:prstGeom>
          <a:ln w="25400">
            <a:solidFill>
              <a:srgbClr val="2563EB"/>
            </a:solidFill>
            <a:tailEnd type="triangle"/>
          </a:ln>
        </p:spPr>
      </p:cxnSp>
      <p:sp>
        <p:nvSpPr>
          <p:cNvPr id="11" name="Text 11"/>
          <p:cNvSpPr txBox="1"/>
          <p:nvPr/>
        </p:nvSpPr>
        <p:spPr>
          <a:xfrm>
            <a:off x="6172200" y="1554480"/>
            <a:ext cx="1325880" cy="22860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txBody>
          <a:bodyPr wrap="square" lIns="91440" tIns="45720" rIns="91440" bIns="45720"/>
          <a:lstStyle/>
          <a:p>
            <a:r>
              <a:rPr lang="en-US" sz="1050" dirty="0">
                <a:solidFill>
                  <a:srgbClr val="000000"/>
                </a:solidFill>
              </a:rPr>
              <a:t>UI actions</a:t>
            </a:r>
          </a:p>
        </p:txBody>
      </p:sp>
      <p:cxnSp>
        <p:nvCxnSpPr>
          <p:cNvPr id="12" name="Connector 12"/>
          <p:cNvCxnSpPr/>
          <p:nvPr/>
        </p:nvCxnSpPr>
        <p:spPr>
          <a:xfrm>
            <a:off x="2468880" y="2286000"/>
            <a:ext cx="1280159" cy="731519"/>
          </a:xfrm>
          <a:prstGeom prst="line">
            <a:avLst/>
          </a:prstGeom>
          <a:ln w="25400">
            <a:solidFill>
              <a:srgbClr val="16A34A"/>
            </a:solidFill>
            <a:tailEnd type="triangle"/>
          </a:ln>
        </p:spPr>
      </p:cxnSp>
      <p:sp>
        <p:nvSpPr>
          <p:cNvPr id="13" name="Text 13"/>
          <p:cNvSpPr txBox="1"/>
          <p:nvPr/>
        </p:nvSpPr>
        <p:spPr>
          <a:xfrm>
            <a:off x="2514600" y="2560320"/>
            <a:ext cx="1325880" cy="22860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txBody>
          <a:bodyPr wrap="square" lIns="91440" tIns="45720" rIns="91440" bIns="45720"/>
          <a:lstStyle/>
          <a:p>
            <a:r>
              <a:rPr lang="en-US" sz="1050" dirty="0">
                <a:solidFill>
                  <a:srgbClr val="000000"/>
                </a:solidFill>
              </a:rPr>
              <a:t>Prompts</a:t>
            </a:r>
          </a:p>
        </p:txBody>
      </p:sp>
      <p:cxnSp>
        <p:nvCxnSpPr>
          <p:cNvPr id="14" name="Connector 14"/>
          <p:cNvCxnSpPr/>
          <p:nvPr/>
        </p:nvCxnSpPr>
        <p:spPr>
          <a:xfrm>
            <a:off x="8321040" y="2286000"/>
            <a:ext cx="1325880" cy="731519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</p:cxnSp>
      <p:sp>
        <p:nvSpPr>
          <p:cNvPr id="15" name="Text 15"/>
          <p:cNvSpPr txBox="1"/>
          <p:nvPr/>
        </p:nvSpPr>
        <p:spPr>
          <a:xfrm>
            <a:off x="8641080" y="2560320"/>
            <a:ext cx="1325880" cy="22860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txBody>
          <a:bodyPr wrap="square" lIns="91440" tIns="45720" rIns="91440" bIns="45720"/>
          <a:lstStyle/>
          <a:p>
            <a:r>
              <a:rPr lang="en-US" sz="1050" dirty="0">
                <a:solidFill>
                  <a:srgbClr val="000000"/>
                </a:solidFill>
              </a:rPr>
              <a:t>Signals</a:t>
            </a:r>
          </a:p>
        </p:txBody>
      </p:sp>
      <p:cxnSp>
        <p:nvCxnSpPr>
          <p:cNvPr id="16" name="Connector 16"/>
          <p:cNvCxnSpPr/>
          <p:nvPr/>
        </p:nvCxnSpPr>
        <p:spPr>
          <a:xfrm>
            <a:off x="6035040" y="2697480"/>
            <a:ext cx="9144" cy="1371600"/>
          </a:xfrm>
          <a:prstGeom prst="line">
            <a:avLst/>
          </a:prstGeom>
          <a:ln w="25400">
            <a:solidFill>
              <a:srgbClr val="06B6D4"/>
            </a:solidFill>
            <a:tailEnd type="triangle"/>
          </a:ln>
        </p:spPr>
      </p:cxnSp>
      <p:sp>
        <p:nvSpPr>
          <p:cNvPr id="17" name="Text 17"/>
          <p:cNvSpPr txBox="1"/>
          <p:nvPr/>
        </p:nvSpPr>
        <p:spPr>
          <a:xfrm>
            <a:off x="6172200" y="3246120"/>
            <a:ext cx="1325880" cy="22860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txBody>
          <a:bodyPr wrap="square" lIns="91440" tIns="45720" rIns="91440" bIns="45720"/>
          <a:lstStyle/>
          <a:p>
            <a:r>
              <a:rPr lang="en-US" sz="1050" dirty="0">
                <a:solidFill>
                  <a:srgbClr val="000000"/>
                </a:solidFill>
              </a:rPr>
              <a:t>Sessions</a:t>
            </a:r>
          </a:p>
        </p:txBody>
      </p:sp>
      <p:cxnSp>
        <p:nvCxnSpPr>
          <p:cNvPr id="18" name="Connector 18"/>
          <p:cNvCxnSpPr/>
          <p:nvPr/>
        </p:nvCxnSpPr>
        <p:spPr>
          <a:xfrm>
            <a:off x="2468880" y="3840480"/>
            <a:ext cx="182879" cy="114300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</p:cxnSp>
      <p:sp>
        <p:nvSpPr>
          <p:cNvPr id="19" name="Text 19"/>
          <p:cNvSpPr txBox="1"/>
          <p:nvPr/>
        </p:nvSpPr>
        <p:spPr>
          <a:xfrm>
            <a:off x="1874519" y="4343400"/>
            <a:ext cx="1325880" cy="22860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txBody>
          <a:bodyPr wrap="square" lIns="91440" tIns="45720" rIns="91440" bIns="45720"/>
          <a:lstStyle/>
          <a:p>
            <a:r>
              <a:rPr lang="en-US" sz="1050" dirty="0">
                <a:solidFill>
                  <a:srgbClr val="000000"/>
                </a:solidFill>
              </a:rPr>
              <a:t>Reports</a:t>
            </a:r>
          </a:p>
        </p:txBody>
      </p:sp>
      <p:cxnSp>
        <p:nvCxnSpPr>
          <p:cNvPr id="20" name="Connector 20"/>
          <p:cNvCxnSpPr/>
          <p:nvPr/>
        </p:nvCxnSpPr>
        <p:spPr>
          <a:xfrm>
            <a:off x="7635240" y="3840480"/>
            <a:ext cx="274320" cy="457200"/>
          </a:xfrm>
          <a:prstGeom prst="line">
            <a:avLst/>
          </a:prstGeom>
          <a:ln w="25400">
            <a:solidFill>
              <a:srgbClr val="2563EB"/>
            </a:solidFill>
            <a:tailEnd type="triangle"/>
          </a:ln>
        </p:spPr>
      </p:cxnSp>
      <p:sp>
        <p:nvSpPr>
          <p:cNvPr id="21" name="Text 21"/>
          <p:cNvSpPr txBox="1"/>
          <p:nvPr/>
        </p:nvSpPr>
        <p:spPr>
          <a:xfrm>
            <a:off x="7955279" y="4114800"/>
            <a:ext cx="1325880" cy="22860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txBody>
          <a:bodyPr wrap="square" lIns="91440" tIns="45720" rIns="91440" bIns="45720"/>
          <a:lstStyle/>
          <a:p>
            <a:r>
              <a:rPr lang="en-US" sz="1050" dirty="0">
                <a:solidFill>
                  <a:srgbClr val="000000"/>
                </a:solidFill>
              </a:rPr>
              <a:t>Metrics</a:t>
            </a:r>
          </a:p>
        </p:txBody>
      </p:sp>
      <p:cxnSp>
        <p:nvCxnSpPr>
          <p:cNvPr id="22" name="Connector 22"/>
          <p:cNvCxnSpPr/>
          <p:nvPr/>
        </p:nvCxnSpPr>
        <p:spPr>
          <a:xfrm>
            <a:off x="7269480" y="4754880"/>
            <a:ext cx="731519" cy="228600"/>
          </a:xfrm>
          <a:prstGeom prst="line">
            <a:avLst/>
          </a:prstGeom>
          <a:ln w="25400">
            <a:solidFill>
              <a:srgbClr val="16A34A"/>
            </a:solidFill>
            <a:tailEnd type="triangle"/>
          </a:ln>
        </p:spPr>
      </p:cxnSp>
      <p:sp>
        <p:nvSpPr>
          <p:cNvPr id="23" name="Text 23"/>
          <p:cNvSpPr txBox="1"/>
          <p:nvPr/>
        </p:nvSpPr>
        <p:spPr>
          <a:xfrm>
            <a:off x="7223760" y="4663440"/>
            <a:ext cx="1325880" cy="22860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txBody>
          <a:bodyPr wrap="square" lIns="91440" tIns="45720" rIns="91440" bIns="45720"/>
          <a:lstStyle/>
          <a:p>
            <a:r>
              <a:rPr lang="en-US" sz="1050" dirty="0">
                <a:solidFill>
                  <a:srgbClr val="000000"/>
                </a:solidFill>
              </a:rPr>
              <a:t>Room sync</a:t>
            </a:r>
          </a:p>
        </p:txBody>
      </p:sp>
      <p:cxnSp>
        <p:nvCxnSpPr>
          <p:cNvPr id="24" name="Connector 24"/>
          <p:cNvCxnSpPr/>
          <p:nvPr/>
        </p:nvCxnSpPr>
        <p:spPr>
          <a:xfrm>
            <a:off x="4434840" y="5394960"/>
            <a:ext cx="3200400" cy="9144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</p:cxnSp>
      <p:sp>
        <p:nvSpPr>
          <p:cNvPr id="25" name="Text 25"/>
          <p:cNvSpPr txBox="1"/>
          <p:nvPr/>
        </p:nvSpPr>
        <p:spPr>
          <a:xfrm>
            <a:off x="5806440" y="5504688"/>
            <a:ext cx="1325880" cy="22860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txBody>
          <a:bodyPr wrap="square" lIns="91440" tIns="45720" rIns="91440" bIns="45720"/>
          <a:lstStyle/>
          <a:p>
            <a:r>
              <a:rPr lang="en-US" sz="1050" dirty="0">
                <a:solidFill>
                  <a:srgbClr val="000000"/>
                </a:solidFill>
              </a:rPr>
              <a:t>History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20040" y="164592"/>
            <a:ext cx="11292840" cy="50292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txBody>
          <a:bodyPr wrap="square" lIns="91440" tIns="45720" rIns="91440" bIns="45720"/>
          <a:lstStyle/>
          <a:p>
            <a:r>
              <a:rPr lang="en-US" sz="2600" dirty="0">
                <a:solidFill>
                  <a:srgbClr val="0F172A"/>
                </a:solidFill>
              </a:rPr>
              <a:t>Technology Stack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85800" y="960120"/>
            <a:ext cx="10835640" cy="489204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txBody>
          <a:bodyPr wrap="square" lIns="91440" tIns="45720" rIns="91440" bIns="45720"/>
          <a:lstStyle/>
          <a:p>
            <a:r>
              <a:rPr lang="en-US" sz="1500" dirty="0">
                <a:solidFill>
                  <a:srgbClr val="0F172A"/>
                </a:solidFill>
              </a:rPr>
              <a:t>Frontend | React, Vite, Tailwind CSS | Responsive UI and live interview workspace |</a:t>
            </a:r>
          </a:p>
          <a:p>
            <a:r>
              <a:rPr lang="en-US" sz="1500" dirty="0">
                <a:solidFill>
                  <a:srgbClr val="0F172A"/>
                </a:solidFill>
              </a:rPr>
              <a:t>Backend | Node.js, Express | Routing, authentication, and orchestration |</a:t>
            </a:r>
          </a:p>
          <a:p>
            <a:r>
              <a:rPr lang="en-US" sz="1500" dirty="0">
                <a:solidFill>
                  <a:srgbClr val="0F172A"/>
                </a:solidFill>
              </a:rPr>
              <a:t>Database | MongoDB, Mongoose | Session, user, and report storage |</a:t>
            </a:r>
          </a:p>
          <a:p>
            <a:r>
              <a:rPr lang="en-US" sz="1500" dirty="0">
                <a:solidFill>
                  <a:srgbClr val="0F172A"/>
                </a:solidFill>
              </a:rPr>
              <a:t>AI Layer | Gemini prompt pipeline | Question generation and feedback |</a:t>
            </a:r>
          </a:p>
          <a:p>
            <a:r>
              <a:rPr lang="en-US" sz="1500" dirty="0">
                <a:solidFill>
                  <a:srgbClr val="0F172A"/>
                </a:solidFill>
              </a:rPr>
              <a:t>Realtime | Socket.IO, WebRTC | Peer rooms and live collaboration |</a:t>
            </a:r>
          </a:p>
          <a:p>
            <a:r>
              <a:rPr lang="en-US" sz="1500" dirty="0">
                <a:solidFill>
                  <a:srgbClr val="0F172A"/>
                </a:solidFill>
              </a:rPr>
              <a:t>Browser APIs | Web Speech API, face analysis | Voice capture and non-verbal signals |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20040" y="164592"/>
            <a:ext cx="11292840" cy="50292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txBody>
          <a:bodyPr wrap="square" lIns="91440" tIns="45720" rIns="91440" bIns="45720"/>
          <a:lstStyle/>
          <a:p>
            <a:r>
              <a:rPr lang="en-US" sz="2600" dirty="0">
                <a:solidFill>
                  <a:srgbClr val="0F172A"/>
                </a:solidFill>
              </a:rPr>
              <a:t>Agents Used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85800" y="960120"/>
            <a:ext cx="10835640" cy="489204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txBody>
          <a:bodyPr wrap="square" lIns="91440" tIns="45720" rIns="91440" bIns="45720"/>
          <a:lstStyle/>
          <a:p>
            <a:pPr marL="285750" indent="-171450">
              <a:buChar char="•"/>
              <a:defRPr sz="1500"/>
            </a:pPr>
            <a:r>
              <a:rPr lang="en-US" sz="1500" dirty="0">
                <a:solidFill>
                  <a:srgbClr val="0F172A"/>
                </a:solidFill>
              </a:rPr>
              <a:t>extbf{Interview Agent:} Generates the next interview question and controls session flow.</a:t>
            </a:r>
          </a:p>
          <a:p>
            <a:pPr marL="285750" indent="-171450">
              <a:buChar char="•"/>
              <a:defRPr sz="1500"/>
            </a:pPr>
            <a:r>
              <a:rPr lang="en-US" sz="1500" dirty="0">
                <a:solidFill>
                  <a:srgbClr val="0F172A"/>
                </a:solidFill>
              </a:rPr>
              <a:t>extbf{Coding Agent:} Presents problems, test cases, and code execution tasks.</a:t>
            </a:r>
          </a:p>
          <a:p>
            <a:pPr marL="285750" indent="-171450">
              <a:buChar char="•"/>
              <a:defRPr sz="1500"/>
            </a:pPr>
            <a:r>
              <a:rPr lang="en-US" sz="1500" dirty="0">
                <a:solidFill>
                  <a:srgbClr val="0F172A"/>
                </a:solidFill>
              </a:rPr>
              <a:t>extbf{Coach Agent:} Gives improvement advice, roadmap suggestions, and learning guidance.</a:t>
            </a:r>
          </a:p>
          <a:p>
            <a:pPr marL="285750" indent="-171450">
              <a:buChar char="•"/>
              <a:defRPr sz="1500"/>
            </a:pPr>
            <a:r>
              <a:rPr lang="en-US" sz="1500" dirty="0">
                <a:solidFill>
                  <a:srgbClr val="0F172A"/>
                </a:solidFill>
              </a:rPr>
              <a:t>extbf{Browser Intelligence Agent:} Collects speech and face signals inside the client.</a:t>
            </a:r>
          </a:p>
          <a:p>
            <a:pPr marL="285750" indent="-171450">
              <a:buChar char="•"/>
              <a:defRPr sz="1500"/>
            </a:pPr>
            <a:r>
              <a:rPr lang="en-US" sz="1500" dirty="0">
                <a:solidFill>
                  <a:srgbClr val="0F172A"/>
                </a:solidFill>
              </a:rPr>
              <a:t>extbf{Realtime Room Agent:} Handles peer and collaborative interaction using socket events.</a:t>
            </a:r>
          </a:p>
          <a:p>
            <a:pPr marL="285750" indent="-171450">
              <a:buChar char="•"/>
              <a:defRPr sz="1500"/>
            </a:pPr>
            <a:r>
              <a:rPr lang="en-US" sz="1500" dirty="0">
                <a:solidFill>
                  <a:srgbClr val="0F172A"/>
                </a:solidFill>
              </a:rPr>
              <a:t>extbf{Recruiter Agent:} Supports scheduling, reviewing, and report-based evaluation.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20040" y="164592"/>
            <a:ext cx="11292840" cy="50292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txBody>
          <a:bodyPr wrap="square" lIns="91440" tIns="45720" rIns="91440" bIns="45720"/>
          <a:lstStyle/>
          <a:p>
            <a:r>
              <a:rPr lang="en-US" sz="2600" dirty="0">
                <a:solidFill>
                  <a:srgbClr val="0F172A"/>
                </a:solidFill>
              </a:rPr>
              <a:t>Algorithms Used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85800" y="960120"/>
            <a:ext cx="10835640" cy="489204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txBody>
          <a:bodyPr wrap="square" lIns="91440" tIns="45720" rIns="91440" bIns="45720"/>
          <a:lstStyle/>
          <a:p>
            <a:pPr marL="285750" indent="-171450">
              <a:buChar char="•"/>
              <a:defRPr sz="1500"/>
            </a:pPr>
            <a:r>
              <a:rPr lang="en-US" sz="1500" dirty="0">
                <a:solidFill>
                  <a:srgbClr val="0F172A"/>
                </a:solidFill>
              </a:rPr>
              <a:t>Prompt chaining for follow-up interview questions.</a:t>
            </a:r>
          </a:p>
          <a:p>
            <a:pPr marL="285750" indent="-171450">
              <a:buChar char="•"/>
              <a:defRPr sz="1500"/>
            </a:pPr>
            <a:r>
              <a:rPr lang="en-US" sz="1500" dirty="0">
                <a:solidFill>
                  <a:srgbClr val="0F172A"/>
                </a:solidFill>
              </a:rPr>
              <a:t>Speech-to-text processing for voice responses.</a:t>
            </a:r>
          </a:p>
          <a:p>
            <a:pPr marL="285750" indent="-171450">
              <a:buChar char="•"/>
              <a:defRPr sz="1500"/>
            </a:pPr>
            <a:r>
              <a:rPr lang="en-US" sz="1500" dirty="0">
                <a:solidFill>
                  <a:srgbClr val="0F172A"/>
                </a:solidFill>
              </a:rPr>
              <a:t>Face detection and non-verbal signal monitoring.</a:t>
            </a:r>
          </a:p>
          <a:p>
            <a:pPr marL="285750" indent="-171450">
              <a:buChar char="•"/>
              <a:defRPr sz="1500"/>
            </a:pPr>
            <a:r>
              <a:rPr lang="en-US" sz="1500" dirty="0">
                <a:solidFill>
                  <a:srgbClr val="0F172A"/>
                </a:solidFill>
              </a:rPr>
              <a:t>JWT authentication for secure session validation.</a:t>
            </a:r>
          </a:p>
          <a:p>
            <a:pPr marL="285750" indent="-171450">
              <a:buChar char="•"/>
              <a:defRPr sz="1500"/>
            </a:pPr>
            <a:r>
              <a:rPr lang="en-US" sz="1500" dirty="0">
                <a:solidFill>
                  <a:srgbClr val="0F172A"/>
                </a:solidFill>
              </a:rPr>
              <a:t>WebSocket event flow for realtime rooms and collaboration.</a:t>
            </a:r>
          </a:p>
          <a:p>
            <a:pPr marL="285750" indent="-171450">
              <a:buChar char="•"/>
              <a:defRPr sz="1500"/>
            </a:pPr>
            <a:r>
              <a:rPr lang="en-US" sz="1500" dirty="0">
                <a:solidFill>
                  <a:srgbClr val="0F172A"/>
                </a:solidFill>
              </a:rPr>
              <a:t>Test-case execution and result comparison for coding tasks.</a:t>
            </a:r>
          </a:p>
          <a:p>
            <a:pPr marL="285750" indent="-171450">
              <a:buChar char="•"/>
              <a:defRPr sz="1500"/>
            </a:pPr>
            <a:r>
              <a:rPr lang="en-US" sz="1500" dirty="0">
                <a:solidFill>
                  <a:srgbClr val="0F172A"/>
                </a:solidFill>
              </a:rPr>
              <a:t>Priority-based roadmap generation from weak topics and user data.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20040" y="164592"/>
            <a:ext cx="11292840" cy="50292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txBody>
          <a:bodyPr wrap="square" lIns="91440" tIns="45720" rIns="91440" bIns="45720"/>
          <a:lstStyle/>
          <a:p>
            <a:r>
              <a:rPr lang="en-US" sz="2600" dirty="0">
                <a:solidFill>
                  <a:srgbClr val="0F172A"/>
                </a:solidFill>
              </a:rPr>
              <a:t>Database Design and API Summary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85800" y="960120"/>
            <a:ext cx="10835640" cy="489204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txBody>
          <a:bodyPr wrap="square" lIns="91440" tIns="45720" rIns="91440" bIns="45720"/>
          <a:lstStyle/>
          <a:p>
            <a:pPr marL="285750" indent="-171450">
              <a:buChar char="•"/>
              <a:defRPr sz="1250"/>
            </a:pPr>
            <a:r>
              <a:rPr lang="en-US" sz="1250" dirty="0">
                <a:solidFill>
                  <a:srgbClr val="0F172A"/>
                </a:solidFill>
              </a:rPr>
              <a:t>Users</a:t>
            </a:r>
          </a:p>
          <a:p>
            <a:pPr marL="285750" indent="-171450">
              <a:buChar char="•"/>
              <a:defRPr sz="1250"/>
            </a:pPr>
            <a:r>
              <a:rPr lang="en-US" sz="1250" dirty="0">
                <a:solidFill>
                  <a:srgbClr val="0F172A"/>
                </a:solidFill>
              </a:rPr>
              <a:t>Interviews</a:t>
            </a:r>
          </a:p>
          <a:p>
            <a:pPr marL="285750" indent="-171450">
              <a:buChar char="•"/>
              <a:defRPr sz="1250"/>
            </a:pPr>
            <a:r>
              <a:rPr lang="en-US" sz="1250" dirty="0">
                <a:solidFill>
                  <a:srgbClr val="0F172A"/>
                </a:solidFill>
              </a:rPr>
              <a:t>Code submissions</a:t>
            </a:r>
          </a:p>
          <a:p>
            <a:pPr marL="285750" indent="-171450">
              <a:buChar char="•"/>
              <a:defRPr sz="1250"/>
            </a:pPr>
            <a:r>
              <a:rPr lang="en-US" sz="1250" dirty="0">
                <a:solidFill>
                  <a:srgbClr val="0F172A"/>
                </a:solidFill>
              </a:rPr>
              <a:t>Roadmaps</a:t>
            </a:r>
          </a:p>
          <a:p>
            <a:pPr marL="285750" indent="-171450">
              <a:buChar char="•"/>
              <a:defRPr sz="1250"/>
            </a:pPr>
            <a:r>
              <a:rPr lang="en-US" sz="1250" dirty="0">
                <a:solidFill>
                  <a:srgbClr val="0F172A"/>
                </a:solidFill>
              </a:rPr>
              <a:t>Reports</a:t>
            </a:r>
          </a:p>
          <a:p>
            <a:pPr marL="285750" indent="-171450">
              <a:buChar char="•"/>
              <a:defRPr sz="1250"/>
            </a:pPr>
            <a:r>
              <a:rPr lang="en-US" sz="1250" dirty="0">
                <a:solidFill>
                  <a:srgbClr val="0F172A"/>
                </a:solidFill>
              </a:rPr>
              <a:t>Peer room records</a:t>
            </a:r>
          </a:p>
          <a:p>
            <a:pPr marL="285750" indent="-171450">
              <a:buChar char="•"/>
              <a:defRPr sz="1250"/>
            </a:pPr>
            <a:r>
              <a:rPr lang="en-US" sz="1250" dirty="0">
                <a:solidFill>
                  <a:srgbClr val="0F172A"/>
                </a:solidFill>
              </a:rPr>
              <a:t>exttt{/api/auth/register}</a:t>
            </a:r>
          </a:p>
          <a:p>
            <a:pPr marL="285750" indent="-171450">
              <a:buChar char="•"/>
              <a:defRPr sz="1250"/>
            </a:pPr>
            <a:r>
              <a:rPr lang="en-US" sz="1250" dirty="0">
                <a:solidFill>
                  <a:srgbClr val="0F172A"/>
                </a:solidFill>
              </a:rPr>
              <a:t>exttt{/api/auth/login}</a:t>
            </a:r>
          </a:p>
          <a:p>
            <a:pPr marL="285750" indent="-171450">
              <a:buChar char="•"/>
              <a:defRPr sz="1250"/>
            </a:pPr>
            <a:r>
              <a:rPr lang="en-US" sz="1250" dirty="0">
                <a:solidFill>
                  <a:srgbClr val="0F172A"/>
                </a:solidFill>
              </a:rPr>
              <a:t>exttt{/api/auth/send-otp}</a:t>
            </a:r>
          </a:p>
          <a:p>
            <a:pPr marL="285750" indent="-171450">
              <a:buChar char="•"/>
              <a:defRPr sz="1250"/>
            </a:pPr>
            <a:r>
              <a:rPr lang="en-US" sz="1250" dirty="0">
                <a:solidFill>
                  <a:srgbClr val="0F172A"/>
                </a:solidFill>
              </a:rPr>
              <a:t>exttt{/api/interviews}</a:t>
            </a:r>
          </a:p>
          <a:p>
            <a:pPr marL="285750" indent="-171450">
              <a:buChar char="•"/>
              <a:defRPr sz="1250"/>
            </a:pPr>
            <a:r>
              <a:rPr lang="en-US" sz="1250" dirty="0">
                <a:solidFill>
                  <a:srgbClr val="0F172A"/>
                </a:solidFill>
              </a:rPr>
              <a:t>exttt{/api/code}</a:t>
            </a:r>
          </a:p>
          <a:p>
            <a:pPr marL="285750" indent="-171450">
              <a:buChar char="•"/>
              <a:defRPr sz="1250"/>
            </a:pPr>
            <a:r>
              <a:rPr lang="en-US" sz="1250" dirty="0">
                <a:solidFill>
                  <a:srgbClr val="0F172A"/>
                </a:solidFill>
              </a:rPr>
              <a:t>exttt{/api/roadmaps}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20040" y="164592"/>
            <a:ext cx="11292840" cy="50292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txBody>
          <a:bodyPr wrap="square" lIns="91440" tIns="45720" rIns="91440" bIns="45720"/>
          <a:lstStyle/>
          <a:p>
            <a:r>
              <a:rPr lang="en-US" sz="2600" dirty="0">
                <a:solidFill>
                  <a:srgbClr val="0F172A"/>
                </a:solidFill>
              </a:rPr>
              <a:t>Core Modules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85800" y="960120"/>
            <a:ext cx="10835640" cy="489204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txBody>
          <a:bodyPr wrap="square" lIns="91440" tIns="45720" rIns="91440" bIns="45720"/>
          <a:lstStyle/>
          <a:p>
            <a:pPr marL="285750" indent="-171450">
              <a:buChar char="•"/>
              <a:defRPr sz="1500"/>
            </a:pPr>
            <a:r>
              <a:rPr lang="en-US" sz="1500" dirty="0">
                <a:solidFill>
                  <a:srgbClr val="0F172A"/>
                </a:solidFill>
              </a:rPr>
              <a:t>AI Interview</a:t>
            </a:r>
          </a:p>
          <a:p>
            <a:pPr marL="285750" indent="-171450">
              <a:buChar char="•"/>
              <a:defRPr sz="1500"/>
            </a:pPr>
            <a:r>
              <a:rPr lang="en-US" sz="1500" dirty="0">
                <a:solidFill>
                  <a:srgbClr val="0F172A"/>
                </a:solidFill>
              </a:rPr>
              <a:t>Coding Interview</a:t>
            </a:r>
          </a:p>
          <a:p>
            <a:pPr marL="285750" indent="-171450">
              <a:buChar char="•"/>
              <a:defRPr sz="1500"/>
            </a:pPr>
            <a:r>
              <a:rPr lang="en-US" sz="1500" dirty="0">
                <a:solidFill>
                  <a:srgbClr val="0F172A"/>
                </a:solidFill>
              </a:rPr>
              <a:t>Recruiter Portal</a:t>
            </a:r>
          </a:p>
          <a:p>
            <a:pPr marL="285750" indent="-171450">
              <a:buChar char="•"/>
              <a:defRPr sz="1500"/>
            </a:pPr>
            <a:r>
              <a:rPr lang="en-US" sz="1500" dirty="0">
                <a:solidFill>
                  <a:srgbClr val="0F172A"/>
                </a:solidFill>
              </a:rPr>
              <a:t>Interview History</a:t>
            </a:r>
          </a:p>
          <a:p>
            <a:pPr marL="285750" indent="-171450">
              <a:buChar char="•"/>
              <a:defRPr sz="1500"/>
            </a:pPr>
            <a:r>
              <a:rPr lang="en-US" sz="1500" dirty="0">
                <a:solidFill>
                  <a:srgbClr val="0F172A"/>
                </a:solidFill>
              </a:rPr>
              <a:t>AI Coach</a:t>
            </a:r>
          </a:p>
          <a:p>
            <a:pPr marL="285750" indent="-171450">
              <a:buChar char="•"/>
              <a:defRPr sz="1500"/>
            </a:pPr>
            <a:r>
              <a:rPr lang="en-US" sz="1500" dirty="0">
                <a:solidFill>
                  <a:srgbClr val="0F172A"/>
                </a:solidFill>
              </a:rPr>
              <a:t>Learning Roadmaps</a:t>
            </a:r>
          </a:p>
          <a:p>
            <a:pPr marL="285750" indent="-171450">
              <a:buChar char="•"/>
              <a:defRPr sz="1500"/>
            </a:pPr>
            <a:r>
              <a:rPr lang="en-US" sz="1500" dirty="0">
                <a:solidFill>
                  <a:srgbClr val="0F172A"/>
                </a:solidFill>
              </a:rPr>
              <a:t>Resume-based guidance</a:t>
            </a:r>
          </a:p>
          <a:p>
            <a:pPr marL="285750" indent="-171450">
              <a:buChar char="•"/>
              <a:defRPr sz="1500"/>
            </a:pPr>
            <a:r>
              <a:rPr lang="en-US" sz="1500" dirty="0">
                <a:solidFill>
                  <a:srgbClr val="0F172A"/>
                </a:solidFill>
              </a:rPr>
              <a:t>Progress tracking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20040" y="164592"/>
            <a:ext cx="11292840" cy="50292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txBody>
          <a:bodyPr wrap="square" lIns="91440" tIns="45720" rIns="91440" bIns="45720"/>
          <a:lstStyle/>
          <a:p>
            <a:r>
              <a:rPr lang="en-US" sz="2600" dirty="0">
                <a:solidFill>
                  <a:srgbClr val="0F172A"/>
                </a:solidFill>
              </a:rPr>
              <a:t>AI Interview Flow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85800" y="960120"/>
            <a:ext cx="10835640" cy="489204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txBody>
          <a:bodyPr wrap="square" lIns="91440" tIns="45720" rIns="91440" bIns="45720"/>
          <a:lstStyle/>
          <a:p>
            <a:pPr marL="285750" indent="-171450">
              <a:buChar char="•"/>
              <a:defRPr sz="1750"/>
            </a:pPr>
            <a:r>
              <a:rPr lang="en-US" sz="1750" dirty="0">
                <a:solidFill>
                  <a:srgbClr val="0F172A"/>
                </a:solidFill>
              </a:rPr>
              <a:t>The interviewer welcomes the candidate and begins with an introductory question.</a:t>
            </a:r>
          </a:p>
          <a:p>
            <a:pPr marL="285750" indent="-171450">
              <a:buChar char="•"/>
              <a:defRPr sz="1750"/>
            </a:pPr>
            <a:r>
              <a:rPr lang="en-US" sz="1750" dirty="0">
                <a:solidFill>
                  <a:srgbClr val="0F172A"/>
                </a:solidFill>
              </a:rPr>
              <a:t>The candidate answers through speech or text input.</a:t>
            </a:r>
          </a:p>
          <a:p>
            <a:pPr marL="285750" indent="-171450">
              <a:buChar char="•"/>
              <a:defRPr sz="1750"/>
            </a:pPr>
            <a:r>
              <a:rPr lang="en-US" sz="1750" dirty="0">
                <a:solidFill>
                  <a:srgbClr val="0F172A"/>
                </a:solidFill>
              </a:rPr>
              <a:t>The backend captures the response and sends it to the AI prompt engine.</a:t>
            </a:r>
          </a:p>
          <a:p>
            <a:pPr marL="285750" indent="-171450">
              <a:buChar char="•"/>
              <a:defRPr sz="1750"/>
            </a:pPr>
            <a:r>
              <a:rPr lang="en-US" sz="1750" dirty="0">
                <a:solidFill>
                  <a:srgbClr val="0F172A"/>
                </a:solidFill>
              </a:rPr>
              <a:t>The AI generates the next question based on the current interview stage.</a:t>
            </a:r>
          </a:p>
          <a:p>
            <a:pPr marL="285750" indent="-171450">
              <a:buChar char="•"/>
              <a:defRPr sz="1750"/>
            </a:pPr>
            <a:r>
              <a:rPr lang="en-US" sz="1750" dirty="0">
                <a:solidFill>
                  <a:srgbClr val="0F172A"/>
                </a:solidFill>
              </a:rPr>
              <a:t>Feedback and evaluation signals are stored for report generation.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20040" y="164592"/>
            <a:ext cx="11292840" cy="50292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txBody>
          <a:bodyPr wrap="square" lIns="91440" tIns="45720" rIns="91440" bIns="45720"/>
          <a:lstStyle/>
          <a:p>
            <a:r>
              <a:rPr lang="en-US" sz="2600" dirty="0">
                <a:solidFill>
                  <a:srgbClr val="0F172A"/>
                </a:solidFill>
              </a:rPr>
              <a:t>Coding Interview and Coding Battle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85800" y="960120"/>
            <a:ext cx="10835640" cy="489204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txBody>
          <a:bodyPr wrap="square" lIns="91440" tIns="45720" rIns="91440" bIns="45720"/>
          <a:lstStyle/>
          <a:p>
            <a:pPr marL="285750" indent="-171450">
              <a:buChar char="•"/>
              <a:defRPr sz="1500"/>
            </a:pPr>
            <a:r>
              <a:rPr lang="en-US" sz="1500" dirty="0">
                <a:solidFill>
                  <a:srgbClr val="0F172A"/>
                </a:solidFill>
              </a:rPr>
              <a:t>Problem statement with examples and constraints</a:t>
            </a:r>
          </a:p>
          <a:p>
            <a:pPr marL="285750" indent="-171450">
              <a:buChar char="•"/>
              <a:defRPr sz="1500"/>
            </a:pPr>
            <a:r>
              <a:rPr lang="en-US" sz="1500" dirty="0">
                <a:solidFill>
                  <a:srgbClr val="0F172A"/>
                </a:solidFill>
              </a:rPr>
              <a:t>Integrated code editor</a:t>
            </a:r>
          </a:p>
          <a:p>
            <a:pPr marL="285750" indent="-171450">
              <a:buChar char="•"/>
              <a:defRPr sz="1500"/>
            </a:pPr>
            <a:r>
              <a:rPr lang="en-US" sz="1500" dirty="0">
                <a:solidFill>
                  <a:srgbClr val="0F172A"/>
                </a:solidFill>
              </a:rPr>
              <a:t>Test-case based validation</a:t>
            </a:r>
          </a:p>
          <a:p>
            <a:pPr marL="285750" indent="-171450">
              <a:buChar char="•"/>
              <a:defRPr sz="1500"/>
            </a:pPr>
            <a:r>
              <a:rPr lang="en-US" sz="1500" dirty="0">
                <a:solidFill>
                  <a:srgbClr val="0F172A"/>
                </a:solidFill>
              </a:rPr>
              <a:t>Run and submit workflow</a:t>
            </a:r>
          </a:p>
          <a:p>
            <a:pPr marL="285750" indent="-171450">
              <a:buChar char="•"/>
              <a:defRPr sz="1500"/>
            </a:pPr>
            <a:r>
              <a:rPr lang="en-US" sz="1500" dirty="0">
                <a:solidFill>
                  <a:srgbClr val="0F172A"/>
                </a:solidFill>
              </a:rPr>
              <a:t>Competitive coding style challenge</a:t>
            </a:r>
          </a:p>
          <a:p>
            <a:pPr marL="285750" indent="-171450">
              <a:buChar char="•"/>
              <a:defRPr sz="1500"/>
            </a:pPr>
            <a:r>
              <a:rPr lang="en-US" sz="1500" dirty="0">
                <a:solidFill>
                  <a:srgbClr val="0F172A"/>
                </a:solidFill>
              </a:rPr>
              <a:t>Time-aware problem solving</a:t>
            </a:r>
          </a:p>
          <a:p>
            <a:pPr marL="285750" indent="-171450">
              <a:buChar char="•"/>
              <a:defRPr sz="1500"/>
            </a:pPr>
            <a:r>
              <a:rPr lang="en-US" sz="1500" dirty="0">
                <a:solidFill>
                  <a:srgbClr val="0F172A"/>
                </a:solidFill>
              </a:rPr>
              <a:t>Performance comparison inside a session</a:t>
            </a:r>
          </a:p>
          <a:p>
            <a:pPr marL="285750" indent="-171450">
              <a:buChar char="•"/>
              <a:defRPr sz="1500"/>
            </a:pPr>
            <a:r>
              <a:rPr lang="en-US" sz="1500" dirty="0">
                <a:solidFill>
                  <a:srgbClr val="0F172A"/>
                </a:solidFill>
              </a:rPr>
              <a:t>Better preparation for live contests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20040" y="164592"/>
            <a:ext cx="11292840" cy="50292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txBody>
          <a:bodyPr wrap="square" lIns="91440" tIns="45720" rIns="91440" bIns="45720"/>
          <a:lstStyle/>
          <a:p>
            <a:r>
              <a:rPr lang="en-US" sz="2600" dirty="0">
                <a:solidFill>
                  <a:srgbClr val="0F172A"/>
                </a:solidFill>
              </a:rPr>
              <a:t>Peer Mock Interview and Recruiter Portal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85800" y="960120"/>
            <a:ext cx="10835640" cy="489204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txBody>
          <a:bodyPr wrap="square" lIns="91440" tIns="45720" rIns="91440" bIns="45720"/>
          <a:lstStyle/>
          <a:p>
            <a:pPr marL="285750" indent="-171450">
              <a:buChar char="•"/>
              <a:defRPr sz="1500"/>
            </a:pPr>
            <a:r>
              <a:rPr lang="en-US" sz="1500" dirty="0">
                <a:solidFill>
                  <a:srgbClr val="0F172A"/>
                </a:solidFill>
              </a:rPr>
              <a:t>User-to-user interview rooms</a:t>
            </a:r>
          </a:p>
          <a:p>
            <a:pPr marL="285750" indent="-171450">
              <a:buChar char="•"/>
              <a:defRPr sz="1500"/>
            </a:pPr>
            <a:r>
              <a:rPr lang="en-US" sz="1500" dirty="0">
                <a:solidFill>
                  <a:srgbClr val="0F172A"/>
                </a:solidFill>
              </a:rPr>
              <a:t>Live communication over realtime channels</a:t>
            </a:r>
          </a:p>
          <a:p>
            <a:pPr marL="285750" indent="-171450">
              <a:buChar char="•"/>
              <a:defRPr sz="1500"/>
            </a:pPr>
            <a:r>
              <a:rPr lang="en-US" sz="1500" dirty="0">
                <a:solidFill>
                  <a:srgbClr val="0F172A"/>
                </a:solidFill>
              </a:rPr>
              <a:t>Shared practice with the same domain or role</a:t>
            </a:r>
          </a:p>
          <a:p>
            <a:pPr marL="285750" indent="-171450">
              <a:buChar char="•"/>
              <a:defRPr sz="1500"/>
            </a:pPr>
            <a:r>
              <a:rPr lang="en-US" sz="1500" dirty="0">
                <a:solidFill>
                  <a:srgbClr val="0F172A"/>
                </a:solidFill>
              </a:rPr>
              <a:t>Schedule interviews</a:t>
            </a:r>
          </a:p>
          <a:p>
            <a:pPr marL="285750" indent="-171450">
              <a:buChar char="•"/>
              <a:defRPr sz="1500"/>
            </a:pPr>
            <a:r>
              <a:rPr lang="en-US" sz="1500" dirty="0">
                <a:solidFill>
                  <a:srgbClr val="0F172A"/>
                </a:solidFill>
              </a:rPr>
              <a:t>Review candidate performance</a:t>
            </a:r>
          </a:p>
          <a:p>
            <a:pPr marL="285750" indent="-171450">
              <a:buChar char="•"/>
              <a:defRPr sz="1500"/>
            </a:pPr>
            <a:r>
              <a:rPr lang="en-US" sz="1500" dirty="0">
                <a:solidFill>
                  <a:srgbClr val="0F172A"/>
                </a:solidFill>
              </a:rPr>
              <a:t>Track reports and history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20040" y="164592"/>
            <a:ext cx="11292840" cy="50292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txBody>
          <a:bodyPr wrap="square" lIns="91440" tIns="45720" rIns="91440" bIns="45720"/>
          <a:lstStyle/>
          <a:p>
            <a:r>
              <a:rPr lang="en-US" sz="2600" dirty="0">
                <a:solidFill>
                  <a:srgbClr val="0F172A"/>
                </a:solidFill>
              </a:rPr>
              <a:t>Security and Data Handling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85800" y="960120"/>
            <a:ext cx="10835640" cy="489204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txBody>
          <a:bodyPr wrap="square" lIns="91440" tIns="45720" rIns="91440" bIns="45720"/>
          <a:lstStyle/>
          <a:p>
            <a:pPr marL="285750" indent="-171450">
              <a:buChar char="•"/>
              <a:defRPr sz="1750"/>
            </a:pPr>
            <a:r>
              <a:rPr lang="en-US" sz="1750" dirty="0">
                <a:solidFill>
                  <a:srgbClr val="0F172A"/>
                </a:solidFill>
              </a:rPr>
              <a:t>JWT authentication protects user sessions.</a:t>
            </a:r>
          </a:p>
          <a:p>
            <a:pPr marL="285750" indent="-171450">
              <a:buChar char="•"/>
              <a:defRPr sz="1750"/>
            </a:pPr>
            <a:r>
              <a:rPr lang="en-US" sz="1750" dirty="0">
                <a:solidFill>
                  <a:srgbClr val="0F172A"/>
                </a:solidFill>
              </a:rPr>
              <a:t>Sensitive workflows stay inside backend controllers and services.</a:t>
            </a:r>
          </a:p>
          <a:p>
            <a:pPr marL="285750" indent="-171450">
              <a:buChar char="•"/>
              <a:defRPr sz="1750"/>
            </a:pPr>
            <a:r>
              <a:rPr lang="en-US" sz="1750" dirty="0">
                <a:solidFill>
                  <a:srgbClr val="0F172A"/>
                </a:solidFill>
              </a:rPr>
              <a:t>MongoDB stores user profiles, interview results, reports, and roadmap progress.</a:t>
            </a:r>
          </a:p>
          <a:p>
            <a:pPr marL="285750" indent="-171450">
              <a:buChar char="•"/>
              <a:defRPr sz="1750"/>
            </a:pPr>
            <a:r>
              <a:rPr lang="en-US" sz="1750" dirty="0">
                <a:solidFill>
                  <a:srgbClr val="0F172A"/>
                </a:solidFill>
              </a:rPr>
              <a:t>Realtime events are managed separately from persistent data.</a:t>
            </a:r>
          </a:p>
          <a:p>
            <a:pPr marL="285750" indent="-171450">
              <a:buChar char="•"/>
              <a:defRPr sz="1750"/>
            </a:pPr>
            <a:r>
              <a:rPr lang="en-US" sz="1750" dirty="0">
                <a:solidFill>
                  <a:srgbClr val="0F172A"/>
                </a:solidFill>
              </a:rPr>
              <a:t>The browser only captures the signals needed for analysis and feedback.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20040" y="164592"/>
            <a:ext cx="11292840" cy="50292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txBody>
          <a:bodyPr wrap="square" lIns="91440" tIns="45720" rIns="91440" bIns="45720"/>
          <a:lstStyle/>
          <a:p>
            <a:r>
              <a:rPr lang="en-US" sz="2600" dirty="0">
                <a:solidFill>
                  <a:srgbClr val="0F172A"/>
                </a:solidFill>
              </a:rPr>
              <a:t>Implementation Phases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85800" y="960120"/>
            <a:ext cx="10835640" cy="489204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txBody>
          <a:bodyPr wrap="square" lIns="91440" tIns="45720" rIns="91440" bIns="45720"/>
          <a:lstStyle/>
          <a:p>
            <a:pPr marL="285750" indent="-171450">
              <a:buChar char="•"/>
              <a:defRPr sz="1500"/>
            </a:pPr>
            <a:r>
              <a:rPr lang="en-US" sz="1500" dirty="0">
                <a:solidFill>
                  <a:srgbClr val="0F172A"/>
                </a:solidFill>
              </a:rPr>
              <a:t>Authentication and role-based navigation</a:t>
            </a:r>
          </a:p>
          <a:p>
            <a:pPr marL="285750" indent="-171450">
              <a:buChar char="•"/>
              <a:defRPr sz="1500"/>
            </a:pPr>
            <a:r>
              <a:rPr lang="en-US" sz="1500" dirty="0">
                <a:solidFill>
                  <a:srgbClr val="0F172A"/>
                </a:solidFill>
              </a:rPr>
              <a:t>Interview setup and live workspace</a:t>
            </a:r>
          </a:p>
          <a:p>
            <a:pPr marL="285750" indent="-171450">
              <a:buChar char="•"/>
              <a:defRPr sz="1500"/>
            </a:pPr>
            <a:r>
              <a:rPr lang="en-US" sz="1500" dirty="0">
                <a:solidFill>
                  <a:srgbClr val="0F172A"/>
                </a:solidFill>
              </a:rPr>
              <a:t>AI question generation and feedback flow</a:t>
            </a:r>
          </a:p>
          <a:p>
            <a:pPr marL="285750" indent="-171450">
              <a:buChar char="•"/>
              <a:defRPr sz="1500"/>
            </a:pPr>
            <a:r>
              <a:rPr lang="en-US" sz="1500" dirty="0">
                <a:solidFill>
                  <a:srgbClr val="0F172A"/>
                </a:solidFill>
              </a:rPr>
              <a:t>Coding editor and test-case runner</a:t>
            </a:r>
          </a:p>
          <a:p>
            <a:pPr marL="285750" indent="-171450">
              <a:buChar char="•"/>
              <a:defRPr sz="1500"/>
            </a:pPr>
            <a:r>
              <a:rPr lang="en-US" sz="1500" dirty="0">
                <a:solidFill>
                  <a:srgbClr val="0F172A"/>
                </a:solidFill>
              </a:rPr>
              <a:t>Realtime collaboration and reporting</a:t>
            </a:r>
          </a:p>
          <a:p>
            <a:pPr marL="285750" indent="-171450">
              <a:buChar char="•"/>
              <a:defRPr sz="1500"/>
            </a:pPr>
            <a:r>
              <a:rPr lang="en-US" sz="1500" dirty="0">
                <a:solidFill>
                  <a:srgbClr val="0F172A"/>
                </a:solidFill>
              </a:rPr>
              <a:t>Roadmaps, coach, and recruiter modules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20040" y="164592"/>
            <a:ext cx="11292840" cy="50292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txBody>
          <a:bodyPr wrap="square" lIns="91440" tIns="45720" rIns="91440" bIns="45720"/>
          <a:lstStyle/>
          <a:p>
            <a:r>
              <a:rPr lang="en-US" sz="2600" dirty="0">
                <a:solidFill>
                  <a:srgbClr val="0F172A"/>
                </a:solidFill>
              </a:rPr>
              <a:t>Applications and Future Scope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85800" y="960120"/>
            <a:ext cx="10835640" cy="489204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txBody>
          <a:bodyPr wrap="square" lIns="91440" tIns="45720" rIns="91440" bIns="45720"/>
          <a:lstStyle/>
          <a:p>
            <a:pPr marL="285750" indent="-171450">
              <a:buChar char="•"/>
              <a:defRPr sz="1500"/>
            </a:pPr>
            <a:r>
              <a:rPr lang="en-US" sz="1500" dirty="0">
                <a:solidFill>
                  <a:srgbClr val="0F172A"/>
                </a:solidFill>
              </a:rPr>
              <a:t>Student interview practice</a:t>
            </a:r>
          </a:p>
          <a:p>
            <a:pPr marL="285750" indent="-171450">
              <a:buChar char="•"/>
              <a:defRPr sz="1500"/>
            </a:pPr>
            <a:r>
              <a:rPr lang="en-US" sz="1500" dirty="0">
                <a:solidFill>
                  <a:srgbClr val="0F172A"/>
                </a:solidFill>
              </a:rPr>
              <a:t>Coding contest preparation</a:t>
            </a:r>
          </a:p>
          <a:p>
            <a:pPr marL="285750" indent="-171450">
              <a:buChar char="•"/>
              <a:defRPr sz="1500"/>
            </a:pPr>
            <a:r>
              <a:rPr lang="en-US" sz="1500" dirty="0">
                <a:solidFill>
                  <a:srgbClr val="0F172A"/>
                </a:solidFill>
              </a:rPr>
              <a:t>Peer-to-peer mock rounds</a:t>
            </a:r>
          </a:p>
          <a:p>
            <a:pPr marL="285750" indent="-171450">
              <a:buChar char="•"/>
              <a:defRPr sz="1500"/>
            </a:pPr>
            <a:r>
              <a:rPr lang="en-US" sz="1500" dirty="0">
                <a:solidFill>
                  <a:srgbClr val="0F172A"/>
                </a:solidFill>
              </a:rPr>
              <a:t>Recruiter evaluation support</a:t>
            </a:r>
          </a:p>
          <a:p>
            <a:pPr marL="285750" indent="-171450">
              <a:buChar char="•"/>
              <a:defRPr sz="1500"/>
            </a:pPr>
            <a:r>
              <a:rPr lang="en-US" sz="1500" dirty="0">
                <a:solidFill>
                  <a:srgbClr val="0F172A"/>
                </a:solidFill>
              </a:rPr>
              <a:t>More domain-specific question banks</a:t>
            </a:r>
          </a:p>
          <a:p>
            <a:pPr marL="285750" indent="-171450">
              <a:buChar char="•"/>
              <a:defRPr sz="1500"/>
            </a:pPr>
            <a:r>
              <a:rPr lang="en-US" sz="1500" dirty="0">
                <a:solidFill>
                  <a:srgbClr val="0F172A"/>
                </a:solidFill>
              </a:rPr>
              <a:t>Better scoring and analytics</a:t>
            </a:r>
          </a:p>
          <a:p>
            <a:pPr marL="285750" indent="-171450">
              <a:buChar char="•"/>
              <a:defRPr sz="1500"/>
            </a:pPr>
            <a:r>
              <a:rPr lang="en-US" sz="1500" dirty="0">
                <a:solidFill>
                  <a:srgbClr val="0F172A"/>
                </a:solidFill>
              </a:rPr>
              <a:t>Video playback and session review</a:t>
            </a:r>
          </a:p>
          <a:p>
            <a:pPr marL="285750" indent="-171450">
              <a:buChar char="•"/>
              <a:defRPr sz="1500"/>
            </a:pPr>
            <a:r>
              <a:rPr lang="en-US" sz="1500" dirty="0">
                <a:solidFill>
                  <a:srgbClr val="0F172A"/>
                </a:solidFill>
              </a:rPr>
              <a:t>Multi-language support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20040" y="164592"/>
            <a:ext cx="11292840" cy="50292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txBody>
          <a:bodyPr wrap="square" lIns="91440" tIns="45720" rIns="91440" bIns="45720"/>
          <a:lstStyle/>
          <a:p>
            <a:r>
              <a:rPr lang="en-US" sz="2600" dirty="0">
                <a:solidFill>
                  <a:srgbClr val="0F172A"/>
                </a:solidFill>
              </a:rPr>
              <a:t>Conclusion and References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85800" y="960120"/>
            <a:ext cx="10835640" cy="489204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txBody>
          <a:bodyPr wrap="square" lIns="91440" tIns="45720" rIns="91440" bIns="45720"/>
          <a:lstStyle/>
          <a:p>
            <a:r>
              <a:rPr lang="en-US" sz="1750" dirty="0">
                <a:solidFill>
                  <a:srgbClr val="0F172A"/>
                </a:solidFill>
              </a:rPr>
              <a:t>block{Conclusion} The project delivers a unified AI interview platform that combines assessment, practice, coaching, and collaboration in one browser-based system.</a:t>
            </a:r>
          </a:p>
          <a:p>
            <a:r>
              <a:rPr lang="en-US" sz="1750" dirty="0">
                <a:solidFill>
                  <a:srgbClr val="0F172A"/>
                </a:solidFill>
              </a:rPr>
              <a:t>block block{References} React, Node.js, Express, MongoDB, Socket.IO, WebRTC, Web Speech API, Gemini AI documentation, and standard interview preparation references.</a:t>
            </a:r>
          </a:p>
          <a:p>
            <a:r>
              <a:rPr lang="en-US" sz="1750" dirty="0">
                <a:solidFill>
                  <a:srgbClr val="0F172A"/>
                </a:solidFill>
              </a:rPr>
              <a:t>block Thank you frame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terviewAI">
  <a:themeElements>
    <a:clrScheme name="InterviewAI">
      <a:dk1>
        <a:srgbClr val="0F172A"/>
      </a:dk1>
      <a:lt1>
        <a:srgbClr val="FFFFFF"/>
      </a:lt1>
      <a:dk2>
        <a:srgbClr val="1E293B"/>
      </a:dk2>
      <a:lt2>
        <a:srgbClr val="F8FAFC"/>
      </a:lt2>
      <a:accent1>
        <a:srgbClr val="2563EB"/>
      </a:accent1>
      <a:accent2>
        <a:srgbClr val="16A34A"/>
      </a:accent2>
      <a:accent3>
        <a:srgbClr val="7C3AED"/>
      </a:accent3>
      <a:accent4>
        <a:srgbClr val="F59E0B"/>
      </a:accent4>
      <a:accent5>
        <a:srgbClr val="06B6D4"/>
      </a:accent5>
      <a:accent6>
        <a:srgbClr val="64748B"/>
      </a:accent6>
      <a:hlink>
        <a:srgbClr val="2563EB"/>
      </a:hlink>
      <a:folHlink>
        <a:srgbClr val="7C3AED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